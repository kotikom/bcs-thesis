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LEPL KUTAISI INTERNATIONAL UNIVERSITY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5727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 ·  Bachelor Program of Computer Science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2926080" cy="0"/>
          </a:xfrm>
          <a:prstGeom prst="line">
            <a:avLst/>
          </a:prstGeom>
          <a:noFill/>
          <a:ln w="25400">
            <a:solidFill>
              <a:srgbClr val="2E6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C0 to Machine Code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AF0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Assembler, Simulator and Basic OS Support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Mirian Shilakadze · Mikheili Kvinikadze · Konstantine Machavariani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Supervisor: </a:t>
            </a:r>
            <a:pPr indent="0" marL="0">
              <a:buNone/>
            </a:pPr>
            <a:r>
              <a:rPr lang="en-US" sz="1300" dirty="0">
                <a:solidFill>
                  <a:srgbClr val="AA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Walter Tichy    </a:t>
            </a:r>
            <a:pPr indent="0" marL="0">
              <a:buNone/>
            </a:pPr>
            <a:r>
              <a:rPr lang="en-US" sz="1300" b="1" dirty="0">
                <a:solidFill>
                  <a:srgbClr val="AA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Co-supervisor: </a:t>
            </a:r>
            <a:pPr indent="0" marL="0">
              <a:buNone/>
            </a:pPr>
            <a:r>
              <a:rPr lang="en-US" sz="1300" dirty="0">
                <a:solidFill>
                  <a:srgbClr val="AA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Wolfgang J. Paul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Bachelor's Thesis Defense  ·  Kutaisi,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C0 Source to a Running Kernel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4415" cy="0"/>
          </a:xfrm>
          <a:prstGeom prst="line">
            <a:avLst/>
          </a:prstGeom>
          <a:noFill/>
          <a:ln w="12700">
            <a:solidFill>
              <a:srgbClr val="E1E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10944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from an existing C0-to-MIPS compiler (Pirtskhelani &amp; Khotchava, KIU)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standalone assembler: MIPS assembly → bytecode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C0 into a “C0 + Assembly” dialect for OS-level programming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MIPS simulator to debug the translation pipeline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 minimal OS kernel — bootloader and runvm — targeting an FPGA board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1635709" cy="868680"/>
          </a:xfrm>
          <a:prstGeom prst="roundRect">
            <a:avLst>
              <a:gd name="adj" fmla="val 6316"/>
            </a:avLst>
          </a:prstGeom>
          <a:solidFill>
            <a:srgbClr val="1B496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160520"/>
            <a:ext cx="154426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+ Assembly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84349" y="4594860"/>
            <a:ext cx="256032" cy="0"/>
          </a:xfrm>
          <a:prstGeom prst="line">
            <a:avLst/>
          </a:prstGeom>
          <a:noFill/>
          <a:ln w="22225">
            <a:solidFill>
              <a:srgbClr val="2E6F9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40381" y="4160520"/>
            <a:ext cx="1635709" cy="868680"/>
          </a:xfrm>
          <a:prstGeom prst="roundRect">
            <a:avLst>
              <a:gd name="adj" fmla="val 6316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6101" y="4160520"/>
            <a:ext cx="154426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76090" y="4594860"/>
            <a:ext cx="256032" cy="0"/>
          </a:xfrm>
          <a:prstGeom prst="line">
            <a:avLst/>
          </a:prstGeom>
          <a:noFill/>
          <a:ln w="22225">
            <a:solidFill>
              <a:srgbClr val="2E6F9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32122" y="4160520"/>
            <a:ext cx="1635709" cy="868680"/>
          </a:xfrm>
          <a:prstGeom prst="roundRect">
            <a:avLst>
              <a:gd name="adj" fmla="val 6316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7842" y="4160520"/>
            <a:ext cx="154426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67832" y="4594860"/>
            <a:ext cx="256032" cy="0"/>
          </a:xfrm>
          <a:prstGeom prst="line">
            <a:avLst/>
          </a:prstGeom>
          <a:noFill/>
          <a:ln w="22225">
            <a:solidFill>
              <a:srgbClr val="2E6F9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23864" y="4160520"/>
            <a:ext cx="1635709" cy="868680"/>
          </a:xfrm>
          <a:prstGeom prst="roundRect">
            <a:avLst>
              <a:gd name="adj" fmla="val 6316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9584" y="4160520"/>
            <a:ext cx="154426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Bytecode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59573" y="4594860"/>
            <a:ext cx="256032" cy="0"/>
          </a:xfrm>
          <a:prstGeom prst="line">
            <a:avLst/>
          </a:prstGeom>
          <a:noFill/>
          <a:ln w="22225">
            <a:solidFill>
              <a:srgbClr val="2E6F9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15605" y="4160520"/>
            <a:ext cx="1635709" cy="868680"/>
          </a:xfrm>
          <a:prstGeom prst="roundRect">
            <a:avLst>
              <a:gd name="adj" fmla="val 6316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1325" y="4160520"/>
            <a:ext cx="154426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Bootloader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751314" y="4594860"/>
            <a:ext cx="256032" cy="0"/>
          </a:xfrm>
          <a:prstGeom prst="line">
            <a:avLst/>
          </a:prstGeom>
          <a:noFill/>
          <a:ln w="22225">
            <a:solidFill>
              <a:srgbClr val="2E6F9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007346" y="4160520"/>
            <a:ext cx="1635709" cy="868680"/>
          </a:xfrm>
          <a:prstGeom prst="roundRect">
            <a:avLst>
              <a:gd name="adj" fmla="val 6316"/>
            </a:avLst>
          </a:prstGeom>
          <a:solidFill>
            <a:srgbClr val="1B496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3066" y="4160520"/>
            <a:ext cx="154426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FPGA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to Machine Code — Bachelor's Thesis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 Contributions &amp; Scope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4415" cy="0"/>
          </a:xfrm>
          <a:prstGeom prst="line">
            <a:avLst/>
          </a:prstGeom>
          <a:noFill/>
          <a:ln w="12700">
            <a:solidFill>
              <a:srgbClr val="E1E5E9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1554480"/>
        </p:xfrm>
        <a:graphic>
          <a:graphicData uri="http://schemas.openxmlformats.org/drawingml/2006/table">
            <a:tbl>
              <a:tblPr/>
              <a:tblGrid>
                <a:gridCol w="1463040"/>
                <a:gridCol w="7772400"/>
                <a:gridCol w="27706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2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2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MIPS Assembler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2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Mirian Shilakadze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2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4, 6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2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Compiler Extensions (“C0 + Assembly”) &amp; OS Kernel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2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Mikheili Kvinikadze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2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2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 Simulator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2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Konstantine Machavariani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429000"/>
            <a:ext cx="11094415" cy="1828800"/>
          </a:xfrm>
          <a:prstGeom prst="roundRect">
            <a:avLst>
              <a:gd name="adj" fmla="val 3500"/>
            </a:avLst>
          </a:prstGeom>
          <a:solidFill>
            <a:srgbClr val="EDF3F7"/>
          </a:solidFill>
          <a:ln w="12700">
            <a:solidFill>
              <a:srgbClr val="E1E5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3611880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4965"/>
                </a:solidFill>
              </a:rPr>
              <a:t>Scope &amp; Limitation
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22A31"/>
                </a:solidFill>
              </a:rPr>
              <a:t>The kernel and bootloader were verified only through simulation. The FPGA hardware designs for disk access, interrupt handling, and the MMU were not finalized in time, so on-board testing was not possible.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to Machine Code — Bachelor's Thesis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 ISA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Configuration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4415" cy="0"/>
          </a:xfrm>
          <a:prstGeom prst="line">
            <a:avLst/>
          </a:prstGeom>
          <a:noFill/>
          <a:ln w="12700">
            <a:solidFill>
              <a:srgbClr val="E1E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5943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∈ 𝔹³²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counter — points to the instruction to be executed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gpr : 𝔹⁵ → 𝔹³²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general-purpose registers; register 0 is hard-wired to zero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: 𝔹³² → 𝔹⁸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byte-addressable processor memory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I(c) = c.m⁴(c.pc)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instruction — 4 bytes fetched at the program counter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949440" y="1600200"/>
            <a:ext cx="4693615" cy="4023360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12700">
            <a:solidFill>
              <a:srgbClr val="E1E5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49440" y="1737360"/>
            <a:ext cx="4693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7080"/>
                </a:solidFill>
              </a:rPr>
              <a:t>Visible Data Structures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2286000"/>
            <a:ext cx="3962095" cy="640080"/>
          </a:xfrm>
          <a:prstGeom prst="roundRect">
            <a:avLst>
              <a:gd name="adj" fmla="val 8571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2286000"/>
            <a:ext cx="3870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 (32 bits)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0" y="3108960"/>
            <a:ext cx="3962095" cy="822960"/>
          </a:xfrm>
          <a:prstGeom prst="roundRect">
            <a:avLst>
              <a:gd name="adj" fmla="val 6667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60920" y="3108960"/>
            <a:ext cx="3870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gpr[0..31]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× 32-bit registers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0" y="4206240"/>
            <a:ext cx="3962095" cy="1188720"/>
          </a:xfrm>
          <a:prstGeom prst="roundRect">
            <a:avLst>
              <a:gd name="adj" fmla="val 4615"/>
            </a:avLst>
          </a:prstGeom>
          <a:solidFill>
            <a:srgbClr val="1B496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4206240"/>
            <a:ext cx="38706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 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2³² bytes,  byte-addressable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to Machine Code — Bachelor's Thesis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 ISA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Instruction Formats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4415" cy="0"/>
          </a:xfrm>
          <a:prstGeom prst="line">
            <a:avLst/>
          </a:prstGeom>
          <a:noFill/>
          <a:ln w="12700">
            <a:solidFill>
              <a:srgbClr val="E1E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1823028" cy="566928"/>
          </a:xfrm>
          <a:prstGeom prst="roundRect">
            <a:avLst>
              <a:gd name="adj" fmla="val 3226"/>
            </a:avLst>
          </a:prstGeom>
          <a:solidFill>
            <a:srgbClr val="1B496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17315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(6)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1668" y="1600200"/>
            <a:ext cx="1519190" cy="566928"/>
          </a:xfrm>
          <a:prstGeom prst="roundRect">
            <a:avLst>
              <a:gd name="adj" fmla="val 3226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17388" y="1600200"/>
            <a:ext cx="14277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(5)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90858" y="1600200"/>
            <a:ext cx="1519190" cy="566928"/>
          </a:xfrm>
          <a:prstGeom prst="roundRect">
            <a:avLst>
              <a:gd name="adj" fmla="val 3226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6578" y="1600200"/>
            <a:ext cx="14277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(5)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10048" y="1600200"/>
            <a:ext cx="4861408" cy="566928"/>
          </a:xfrm>
          <a:prstGeom prst="roundRect">
            <a:avLst>
              <a:gd name="adj" fmla="val 3226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55768" y="1600200"/>
            <a:ext cx="476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 (16)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62895" y="16002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I-type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1600200"/>
            <a:ext cx="1823028" cy="566928"/>
          </a:xfrm>
          <a:prstGeom prst="roundRect">
            <a:avLst>
              <a:gd name="adj" fmla="val 3226"/>
            </a:avLst>
          </a:prstGeom>
          <a:solidFill>
            <a:srgbClr val="1B496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1600200"/>
            <a:ext cx="17315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(6)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468880"/>
            <a:ext cx="1823028" cy="566928"/>
          </a:xfrm>
          <a:prstGeom prst="roundRect">
            <a:avLst>
              <a:gd name="adj" fmla="val 3226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468880"/>
            <a:ext cx="17315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(6)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71668" y="2468880"/>
            <a:ext cx="1519190" cy="566928"/>
          </a:xfrm>
          <a:prstGeom prst="roundRect">
            <a:avLst>
              <a:gd name="adj" fmla="val 3226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17388" y="2468880"/>
            <a:ext cx="14277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(5)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90858" y="2468880"/>
            <a:ext cx="1519190" cy="566928"/>
          </a:xfrm>
          <a:prstGeom prst="roundRect">
            <a:avLst>
              <a:gd name="adj" fmla="val 3226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6578" y="2468880"/>
            <a:ext cx="14277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(5)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10048" y="2468880"/>
            <a:ext cx="1519190" cy="566928"/>
          </a:xfrm>
          <a:prstGeom prst="roundRect">
            <a:avLst>
              <a:gd name="adj" fmla="val 3226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55768" y="2468880"/>
            <a:ext cx="14277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 (5)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29237" y="2468880"/>
            <a:ext cx="1519190" cy="566928"/>
          </a:xfrm>
          <a:prstGeom prst="roundRect">
            <a:avLst>
              <a:gd name="adj" fmla="val 3226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74957" y="2468880"/>
            <a:ext cx="14277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(5)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448427" y="2468880"/>
            <a:ext cx="1823028" cy="566928"/>
          </a:xfrm>
          <a:prstGeom prst="roundRect">
            <a:avLst>
              <a:gd name="adj" fmla="val 3226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94147" y="2468880"/>
            <a:ext cx="17315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(6)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62895" y="24688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R-type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2468880"/>
            <a:ext cx="1823028" cy="566928"/>
          </a:xfrm>
          <a:prstGeom prst="roundRect">
            <a:avLst>
              <a:gd name="adj" fmla="val 3226"/>
            </a:avLst>
          </a:prstGeom>
          <a:solidFill>
            <a:srgbClr val="1B496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2468880"/>
            <a:ext cx="17315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(6)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3337560"/>
            <a:ext cx="1823028" cy="566928"/>
          </a:xfrm>
          <a:prstGeom prst="roundRect">
            <a:avLst>
              <a:gd name="adj" fmla="val 3226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337560"/>
            <a:ext cx="17315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(6)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371668" y="3337560"/>
            <a:ext cx="7899787" cy="566928"/>
          </a:xfrm>
          <a:prstGeom prst="roundRect">
            <a:avLst>
              <a:gd name="adj" fmla="val 3226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17388" y="3337560"/>
            <a:ext cx="780834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iindex (26)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362895" y="33375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J-type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3337560"/>
            <a:ext cx="1823028" cy="566928"/>
          </a:xfrm>
          <a:prstGeom prst="roundRect">
            <a:avLst>
              <a:gd name="adj" fmla="val 3226"/>
            </a:avLst>
          </a:prstGeom>
          <a:solidFill>
            <a:srgbClr val="1B496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3337560"/>
            <a:ext cx="17315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(6)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434340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6-bit opcode (bits 31–26) determines the instruction's type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I-type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 &amp; branches — lw, sw, addi, beq, bltz …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R-type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register-to-register ops &amp; jumps — add, sub, and, jr, jalr, sysc …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J-type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unconditional jumps with a pc-relative offset — j, jal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to Machine Code — Bachelor's Thesis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Single-Pass Design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4415" cy="0"/>
          </a:xfrm>
          <a:prstGeom prst="line">
            <a:avLst/>
          </a:prstGeom>
          <a:noFill/>
          <a:ln w="12700">
            <a:solidFill>
              <a:srgbClr val="E1E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translate MIPS assembly into bytecode in a single pass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bytecode as early as possible — avoid buffering the whole program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non-blank input line is one of three forms:</a:t>
            </a:r>
            <a:endParaRPr lang="en-US" sz="15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5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invocation</a:t>
            </a:r>
            <a:endParaRPr lang="en-US" sz="155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definition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035040" y="146304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assembler input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35040" y="1783080"/>
            <a:ext cx="5608015" cy="3931920"/>
          </a:xfrm>
          <a:prstGeom prst="roundRect">
            <a:avLst>
              <a:gd name="adj" fmla="val 1395"/>
            </a:avLst>
          </a:prstGeom>
          <a:solidFill>
            <a:srgbClr val="F4F5F7"/>
          </a:solidFill>
          <a:ln w="12700">
            <a:solidFill>
              <a:srgbClr val="D7DC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99632" y="1898294"/>
            <a:ext cx="5278831" cy="3701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macro: gpr(30) = enc(10240, uint)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macro: gpr(28) = enc(5120, uint)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addiu 29 28 16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subu 1 29 28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srl 1 1 2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macro: zero(28, 1)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_main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_main: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 1 28 0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macro: gpr(2) = enc(2, int)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 2 1 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to Machine Code — Bachelor's Thesis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 Registry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4415" cy="0"/>
          </a:xfrm>
          <a:prstGeom prst="line">
            <a:avLst/>
          </a:prstGeom>
          <a:noFill/>
          <a:ln w="12700">
            <a:solidFill>
              <a:srgbClr val="E1E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factory pattern avoids large switch statements over 20+ mnemonics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mnemonic is registered declaratively with its encoder, syntax and operand parsing rule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assembler queries the registry for opcode lookup, operand parsing, and argument ordering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registry is reused later by the simulator (Slide 17)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852160" y="1463040"/>
            <a:ext cx="5790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InstructionRegistry.java (excerpt)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52160" y="1783080"/>
            <a:ext cx="5790895" cy="3931920"/>
          </a:xfrm>
          <a:prstGeom prst="roundRect">
            <a:avLst>
              <a:gd name="adj" fmla="val 1395"/>
            </a:avLst>
          </a:prstGeom>
          <a:solidFill>
            <a:srgbClr val="F4F5F7"/>
          </a:solidFill>
          <a:ln w="12700">
            <a:solidFill>
              <a:srgbClr val="D7DC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16752" y="1898294"/>
            <a:ext cx="5461711" cy="3701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InstructionRegistry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Map&lt;String, InstructionCreator&gt;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encoderInstructionMap =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Initializer.initializeEncoderMap();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Map&lt;String, InstructionCreator&gt;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executableInstructionMap =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Initializer.initializeExecutableMap();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Instruction createForEncoder(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String mnemonic, int[] operands) {...}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Instruction createForExecutor(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String mnemonic, int[] operands) {...}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to Machine Code — Bachelor's Thesis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References &amp; the Drain Routine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4415" cy="0"/>
          </a:xfrm>
          <a:prstGeom prst="line">
            <a:avLst/>
          </a:prstGeom>
          <a:noFill/>
          <a:ln w="12700">
            <a:solidFill>
              <a:srgbClr val="E1E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 used before its definition leaves the instruction “unresolved”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output is streamed in order, every following instruction must wait too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instructions are queued; drainInstructions() emits everything that has become resolved after each line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defined before use are resolved — and emitted — immediately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0" y="1463040"/>
            <a:ext cx="5699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reference example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0" y="1728216"/>
            <a:ext cx="5699455" cy="1737360"/>
          </a:xfrm>
          <a:prstGeom prst="roundRect">
            <a:avLst>
              <a:gd name="adj" fmla="val 3158"/>
            </a:avLst>
          </a:prstGeom>
          <a:solidFill>
            <a:srgbClr val="F4F5F7"/>
          </a:solidFill>
          <a:ln w="12700">
            <a:solidFill>
              <a:srgbClr val="D7DC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08192" y="1843430"/>
            <a:ext cx="5370271" cy="1506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_loop     # forward-refers to _loop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 2 2 1  # deferred until _loop is known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_loop: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subu 3 3 3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 31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3611880"/>
            <a:ext cx="5699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drainInstructions() — pseudocode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3886200"/>
            <a:ext cx="5699455" cy="1463040"/>
          </a:xfrm>
          <a:prstGeom prst="roundRect">
            <a:avLst>
              <a:gd name="adj" fmla="val 3750"/>
            </a:avLst>
          </a:prstGeom>
          <a:solidFill>
            <a:srgbClr val="F4F5F7"/>
          </a:solidFill>
          <a:ln w="12700">
            <a:solidFill>
              <a:srgbClr val="D7DC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08192" y="4001414"/>
            <a:ext cx="5370271" cy="1232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queue IS NOT EMPTY: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instr = queue.PEEK()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NOT instr.isResolved(): BREAK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queue.POP()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emit(instr)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to Machine Code — Bachelor's Thesis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 Instructions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4415" cy="0"/>
          </a:xfrm>
          <a:prstGeom prst="line">
            <a:avLst/>
          </a:prstGeom>
          <a:noFill/>
          <a:ln w="12700">
            <a:solidFill>
              <a:srgbClr val="E1E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macro groups a reusable set of MIPS instructions behind one line of assembly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into its full instruction sequence at translation time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 a single class, Macros.java, one expansion routine per pseudo-instruction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1094415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1E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2608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gpr(i) = enc(val, type)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0" y="2926080"/>
            <a:ext cx="62938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 constant value into register i (lui + ori)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639312"/>
            <a:ext cx="11094415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1E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639312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zero(i, j)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3639312"/>
            <a:ext cx="62938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j memory words starting at address gpr(i)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352544"/>
            <a:ext cx="11094415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1E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352544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 / divu / divt(k, i, j)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4352544"/>
            <a:ext cx="62938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multiply / unsigned / signed divide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065776"/>
            <a:ext cx="11094415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1E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065776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ssave(r) / srestore(r)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5065776"/>
            <a:ext cx="62938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/ restore a register to scratch memory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779008"/>
            <a:ext cx="11094415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1E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779008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restore-user / save-user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5779008"/>
            <a:ext cx="62938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a virtual user's configuration in/out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to Machine Code — Bachelor's Thesis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+ ASSEMBLY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Extend C0?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4415" cy="0"/>
          </a:xfrm>
          <a:prstGeom prst="line">
            <a:avLst/>
          </a:prstGeom>
          <a:noFill/>
          <a:ln w="12700">
            <a:solidFill>
              <a:srgbClr val="E1E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10944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code needs two things plain C0 cannot express:</a:t>
            </a:r>
            <a:endParaRPr lang="en-US" sz="160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 to registers</a:t>
            </a:r>
            <a:endParaRPr lang="en-US" sz="160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memory outside the range of C0 variables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additions close this gap:</a:t>
            </a:r>
            <a:endParaRPr lang="en-US" sz="160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read/write — gpr(i) = id {J}  and  id = gpr(i) {J}</a:t>
            </a:r>
            <a:endParaRPr lang="en-US" sz="160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assembly — asm(MIPS)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lists registers that must stay unchanged while translating the statement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primitives such as copyms and readdisk return nothing — this motivated adding void functions too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to Machine Code — Bachelor's Thesis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+ ASSEMBLY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Grammar Extensions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4415" cy="0"/>
          </a:xfrm>
          <a:prstGeom prst="line">
            <a:avLst/>
          </a:prstGeom>
          <a:noFill/>
          <a:ln w="12700">
            <a:solidFill>
              <a:srgbClr val="E1E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writing registers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728216"/>
            <a:ext cx="5486400" cy="1920240"/>
          </a:xfrm>
          <a:prstGeom prst="roundRect">
            <a:avLst>
              <a:gd name="adj" fmla="val 2857"/>
            </a:avLst>
          </a:prstGeom>
          <a:solidFill>
            <a:srgbClr val="F4F5F7"/>
          </a:solidFill>
          <a:ln w="12700">
            <a:solidFill>
              <a:srgbClr val="D7D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843430"/>
            <a:ext cx="5157216" cy="1689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&lt;NuS&gt; -&gt; &lt;DiS&gt; | &lt;DiS&gt;,&lt;NuS&gt;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&lt;St&gt;  -&gt; ... | &lt;id&gt;=gpr(&lt;DiS&gt;)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| &lt;id&gt;=gpr(&lt;DiS&gt;) {&lt;NuS&gt;}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| ... | gpr(&lt;DiS&gt;)=&lt;id&gt;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| gpr(&lt;DiS&gt;)=&lt;id&gt; {&lt;NuS&gt;}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463040"/>
            <a:ext cx="52422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assembly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1728216"/>
            <a:ext cx="5242255" cy="1920240"/>
          </a:xfrm>
          <a:prstGeom prst="roundRect">
            <a:avLst>
              <a:gd name="adj" fmla="val 2857"/>
            </a:avLst>
          </a:prstGeom>
          <a:solidFill>
            <a:srgbClr val="F4F5F7"/>
          </a:solidFill>
          <a:ln w="12700">
            <a:solidFill>
              <a:srgbClr val="D7DC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843430"/>
            <a:ext cx="4913071" cy="1689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&lt;DiLeCC&gt;  -&gt; - | &lt;DiLe&gt;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&lt;DiLeCCS&gt; -&gt; &lt;DiLeCC&gt; | &lt;DiLeCCS&gt;&lt;DiLeCC&gt;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&lt;ASM&gt;     -&gt; &lt;DiLeCCS&gt; | &lt;ASM&gt; &lt;DiLeCCS&gt;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&lt;St&gt; -&gt; ... | asm( &lt;ASM&gt; 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84048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“gpr” and “asm” are added to the terminal symbols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&lt;DiLeCC&gt; extends digits/letters with “−”, needed for negative lw/sw offsets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&lt;ASM&gt; concatenates arbitrary space-separated tokens — broad, but sufficient for kernel assembly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to Machine Code — Bachelor's Thesis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+ ASSEMBLY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the Grammar LR(1)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4415" cy="0"/>
          </a:xfrm>
          <a:prstGeom prst="line">
            <a:avLst/>
          </a:prstGeom>
          <a:noFill/>
          <a:ln w="12700">
            <a:solidFill>
              <a:srgbClr val="E1E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grammar change risks breaking LR(1) parsability — checked with the DK1 test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generation itself was left unchanged; the same DK1 automaton construction applies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attempt at adding inline assembly failed the test: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80160" y="3291840"/>
            <a:ext cx="9631375" cy="960120"/>
          </a:xfrm>
          <a:prstGeom prst="roundRect">
            <a:avLst>
              <a:gd name="adj" fmla="val 5714"/>
            </a:avLst>
          </a:prstGeom>
          <a:solidFill>
            <a:srgbClr val="F4F5F7"/>
          </a:solidFill>
          <a:ln w="12700">
            <a:solidFill>
              <a:srgbClr val="D7D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44752" y="3407054"/>
            <a:ext cx="9302191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R1:  &lt;ASM&gt; -&gt; &lt;DiLeCCS&gt;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R2:  &lt;ASM&gt; -&gt; &lt;DiLeCCS&gt; . &lt;ASM&gt;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rules share look-ahead symbol “ ” (space), which fails the accept-state condition of the test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invert the derivation order →  &lt;ASM&gt; -&gt; &lt;DiLeCCS&gt; | &lt;ASM&gt; &lt;DiLeCCS&gt;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to Machine Code — Bachelor's Thesis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+ ASSEMBLY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Translating Register Reads &amp; Writes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4415" cy="0"/>
          </a:xfrm>
          <a:prstGeom prst="line">
            <a:avLst/>
          </a:prstGeom>
          <a:noFill/>
          <a:ln w="12700">
            <a:solidFill>
              <a:srgbClr val="E1E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generateStS inspects the border word of each statement and dispatches to:</a:t>
            </a:r>
            <a:endParaRPr lang="en-US" sz="1500" dirty="0"/>
          </a:p>
          <a:p>
            <a:pPr lvl="1" marL="4572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generateReadGPR, generateWriteGPR, generateInlineAsm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named in J (plus the target register) are occupied during translation, then freed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assembly needs no further translation — its MIPS text is copied straight into the instruction stream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0" y="1463040"/>
            <a:ext cx="52422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= gpr(i) {J}  —  translation flow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766560" y="1874520"/>
            <a:ext cx="4510735" cy="566928"/>
          </a:xfrm>
          <a:prstGeom prst="roundRect">
            <a:avLst>
              <a:gd name="adj" fmla="val 9677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1874520"/>
            <a:ext cx="4419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021928" y="2441448"/>
            <a:ext cx="0" cy="219456"/>
          </a:xfrm>
          <a:prstGeom prst="line">
            <a:avLst/>
          </a:prstGeom>
          <a:noFill/>
          <a:ln w="22225">
            <a:solidFill>
              <a:srgbClr val="2E6F9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66560" y="2660904"/>
            <a:ext cx="4510735" cy="566928"/>
          </a:xfrm>
          <a:prstGeom prst="roundRect">
            <a:avLst>
              <a:gd name="adj" fmla="val 9677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2660904"/>
            <a:ext cx="4419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evaluateId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021928" y="3227832"/>
            <a:ext cx="0" cy="219456"/>
          </a:xfrm>
          <a:prstGeom prst="line">
            <a:avLst/>
          </a:prstGeom>
          <a:noFill/>
          <a:ln w="22225">
            <a:solidFill>
              <a:srgbClr val="2E6F9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766560" y="3447288"/>
            <a:ext cx="4510735" cy="566928"/>
          </a:xfrm>
          <a:prstGeom prst="roundRect">
            <a:avLst>
              <a:gd name="adj" fmla="val 9677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3447288"/>
            <a:ext cx="4419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varRegId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21928" y="4014216"/>
            <a:ext cx="0" cy="219456"/>
          </a:xfrm>
          <a:prstGeom prst="line">
            <a:avLst/>
          </a:prstGeom>
          <a:noFill/>
          <a:ln w="22225">
            <a:solidFill>
              <a:srgbClr val="2E6F9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766560" y="4233672"/>
            <a:ext cx="4510735" cy="566928"/>
          </a:xfrm>
          <a:prstGeom prst="roundRect">
            <a:avLst>
              <a:gd name="adj" fmla="val 9677"/>
            </a:avLst>
          </a:prstGeom>
          <a:solidFill>
            <a:srgbClr val="1B496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4233672"/>
            <a:ext cx="4419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 i, varRegId.reg, 0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to Machine Code — Bachelor's Thesis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+ ASSEMBLY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Void Functions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4415" cy="0"/>
          </a:xfrm>
          <a:prstGeom prst="line">
            <a:avLst/>
          </a:prstGeom>
          <a:noFill/>
          <a:ln w="12700">
            <a:solidFill>
              <a:srgbClr val="E1E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5760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primitives (copyms, readdisk, writedisk) don't return a value — C0 needed void functions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Grammar: void f(params){locals; body} — same shape as a regular function, minus the return type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generateCodeVoidFunction:</a:t>
            </a:r>
            <a:endParaRPr lang="en-US" sz="1500" dirty="0"/>
          </a:p>
          <a:p>
            <a:pPr lvl="1" marL="4572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return address on the stack</a:t>
            </a:r>
            <a:endParaRPr lang="en-US" sz="1500" dirty="0"/>
          </a:p>
          <a:p>
            <a:pPr lvl="1" marL="4572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 function body</a:t>
            </a:r>
            <a:endParaRPr lang="en-US" sz="1500" dirty="0"/>
          </a:p>
          <a:p>
            <a:pPr lvl="1" marL="4572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the stack pointer, then jr back to the caller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change added no overhead to the DK1 test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75120" y="1463040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Function-call stack frame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675120" y="1783080"/>
            <a:ext cx="4967935" cy="502920"/>
          </a:xfrm>
          <a:prstGeom prst="roundRect">
            <a:avLst>
              <a:gd name="adj" fmla="val 10909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783080"/>
            <a:ext cx="4876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75120" y="2340864"/>
            <a:ext cx="4967935" cy="457200"/>
          </a:xfrm>
          <a:prstGeom prst="roundRect">
            <a:avLst>
              <a:gd name="adj" fmla="val 12000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2340864"/>
            <a:ext cx="4876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75120" y="2852928"/>
            <a:ext cx="4967935" cy="384048"/>
          </a:xfrm>
          <a:prstGeom prst="roundRect">
            <a:avLst>
              <a:gd name="adj" fmla="val 14286"/>
            </a:avLst>
          </a:prstGeom>
          <a:solidFill>
            <a:srgbClr val="1B496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2852928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0" y="3291840"/>
            <a:ext cx="4967935" cy="822960"/>
          </a:xfrm>
          <a:prstGeom prst="roundRect">
            <a:avLst>
              <a:gd name="adj" fmla="val 6667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3291840"/>
            <a:ext cx="4876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/ caller frame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to Machine Code — Bachelor's Thesis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+ ASSEMBLY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writems &amp; copyms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4415" cy="0"/>
          </a:xfrm>
          <a:prstGeom prst="line">
            <a:avLst/>
          </a:prstGeom>
          <a:noFill/>
          <a:ln w="12700">
            <a:solidFill>
              <a:srgbClr val="E1E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+ Assembly source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728216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F4F5F7"/>
          </a:solidFill>
          <a:ln w="12700">
            <a:solidFill>
              <a:srgbClr val="D7D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843430"/>
            <a:ext cx="5065776" cy="146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writems(uint x, uint a){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gpr(1) = x;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gpr(2) = a {1};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asm( sw 1 2 0 )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1463040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MIPS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728216"/>
            <a:ext cx="5333695" cy="2148840"/>
          </a:xfrm>
          <a:prstGeom prst="roundRect">
            <a:avLst>
              <a:gd name="adj" fmla="val 2553"/>
            </a:avLst>
          </a:prstGeom>
          <a:solidFill>
            <a:srgbClr val="F4F5F7"/>
          </a:solidFill>
          <a:ln w="12700">
            <a:solidFill>
              <a:srgbClr val="D7DC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843430"/>
            <a:ext cx="5004511" cy="1918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_writems: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 31 29 -12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 1 29 -8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lw 1 1 0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 2 29 -4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lw 2 2 0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 1 2 0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lw 1 29 -12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9776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writems(x, a)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value x in main memory at address a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copyms(a, b, L)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L consecutive words from a to b — built the same way, with a loop of asm() statements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used directly by the kernel's disk-access routines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to Machine Code — Bachelor's Thesis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+ ASSEMBLY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Bugs Found in the Existing Compiler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4415" cy="0"/>
          </a:xfrm>
          <a:prstGeom prst="line">
            <a:avLst/>
          </a:prstGeom>
          <a:noFill/>
          <a:ln w="12700">
            <a:solidFill>
              <a:srgbClr val="E1E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11094415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1E5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88820"/>
            <a:ext cx="457200" cy="457200"/>
          </a:xfrm>
          <a:prstGeom prst="oval">
            <a:avLst>
              <a:gd name="adj" fmla="val 12000"/>
            </a:avLst>
          </a:prstGeom>
          <a:solidFill>
            <a:srgbClr val="1B496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9888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73736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Macro-aware branch offsets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417320" y="2103120"/>
            <a:ext cx="9951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statements (while, if, if-else) computed branch offsets by counting each macro as a single instruction. Fixed by tracking each macro's real expanded length.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1094415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1E5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3406140"/>
            <a:ext cx="457200" cy="457200"/>
          </a:xfrm>
          <a:prstGeom prst="oval">
            <a:avLst>
              <a:gd name="adj" fmla="val 12000"/>
            </a:avLst>
          </a:prstGeom>
          <a:solidFill>
            <a:srgbClr val="1B496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4061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15468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constant loading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417320" y="3520440"/>
            <a:ext cx="9951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 (16-bit immediate) was used for large constants and silently truncated them. Replaced with the gpr()=enc() macro (lui + ori).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11094415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1E5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4823460"/>
            <a:ext cx="457200" cy="457200"/>
          </a:xfrm>
          <a:prstGeom prst="oval">
            <a:avLst>
              <a:gd name="adj" fmla="val 12000"/>
            </a:avLst>
          </a:prstGeom>
          <a:solidFill>
            <a:srgbClr val="1B496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48234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57200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element access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417320" y="4937760"/>
            <a:ext cx="9951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address, element type, and displacement for id[e] were computed incorrectly; all three were reviewed and corrected.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to Machine Code — Bachelor's Thesis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Purpose-Built MIPS Simulator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4415" cy="0"/>
          </a:xfrm>
          <a:prstGeom prst="line">
            <a:avLst/>
          </a:prstGeom>
          <a:noFill/>
          <a:ln w="12700">
            <a:solidFill>
              <a:srgbClr val="E1E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tools (e.g. MARS) don't match our custom ISA subset, macros, or label syntax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debugging aid for the translation pipeline — not a formal proof of correctness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machine state lives in one Configuration object:</a:t>
            </a:r>
            <a:endParaRPr lang="en-US" sz="150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— modeled as a 64-bit long (Java has no unsigned 32-bit type)</a:t>
            </a:r>
            <a:endParaRPr lang="en-US" sz="150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gpr[32] — register 0 writes are always ignored</a:t>
            </a:r>
            <a:endParaRPr lang="en-US" sz="1500" dirty="0"/>
          </a:p>
          <a:p>
            <a:pPr lvl="1" marL="4572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 memory — see next slide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92240" y="1463040"/>
            <a:ext cx="5150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Configuration.java (excerpt)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92240" y="1728216"/>
            <a:ext cx="5150815" cy="3977640"/>
          </a:xfrm>
          <a:prstGeom prst="roundRect">
            <a:avLst>
              <a:gd name="adj" fmla="val 1379"/>
            </a:avLst>
          </a:prstGeom>
          <a:solidFill>
            <a:srgbClr val="F4F5F7"/>
          </a:solidFill>
          <a:ln w="12700">
            <a:solidFill>
              <a:srgbClr val="D7DC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56832" y="1843430"/>
            <a:ext cx="4821631" cy="374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Configuration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long pc;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final int[] gpr;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final Map&lt;Integer, byte[]&gt;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memoryPaged;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boolean isRunning;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Configuration()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this.pc = 0L;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this.gpr = new int[32];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this.isRunning = true;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to Machine Code — Bachelor's Thesis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Sparse, Paged Memory Model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4415" cy="0"/>
          </a:xfrm>
          <a:prstGeom prst="line">
            <a:avLst/>
          </a:prstGeom>
          <a:noFill/>
          <a:ln w="12700">
            <a:solidFill>
              <a:srgbClr val="E1E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2³²-entry array is not practical to allocate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modeled as 4 KB pages inside a HashMap&lt;Integer, byte[]&gt;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is created only the first time a program writes into it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= page id (upper 20 bits) + offset (lower 12 bits)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 to a never-written page returns zero — matching real zeroed memory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0" y="1463040"/>
            <a:ext cx="5425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getWord — packing 4 bytes into a word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728216"/>
            <a:ext cx="5425135" cy="1965960"/>
          </a:xfrm>
          <a:prstGeom prst="roundRect">
            <a:avLst>
              <a:gd name="adj" fmla="val 2791"/>
            </a:avLst>
          </a:prstGeom>
          <a:solidFill>
            <a:srgbClr val="F4F5F7"/>
          </a:solidFill>
          <a:ln w="12700">
            <a:solidFill>
              <a:srgbClr val="D7DC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2512" y="1843430"/>
            <a:ext cx="5095951" cy="1735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getWord(int address)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((getByte(address)   &amp; 0xFF)&lt;&lt;24) |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((getByte(address+1) &amp; 0xFF)&lt;&lt;16) |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((getByte(address+2) &amp; 0xFF)&lt;&lt;8)  |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(getByte(address+3) &amp; 0xFF);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17920" y="3840480"/>
            <a:ext cx="54251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0xFF masks each byte — otherwise Java sign-extends it on promotion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 (unsigned shift) is used in setWord to avoid dragging the sign bit along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to Machine Code — Bachelor's Thesis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 – Decode – Execute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4415" cy="0"/>
          </a:xfrm>
          <a:prstGeom prst="line">
            <a:avLst/>
          </a:prstGeom>
          <a:noFill/>
          <a:ln w="12700">
            <a:solidFill>
              <a:srgbClr val="E1E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c′ = δ(c, 0)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simulation step implements the ISA's transition function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runs until a syscall halts the machine, or instructions run out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3393338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1E5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301752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A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I(c) = c.m⁴(c.pc)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A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the 32-bit word at pc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41978" y="3611880"/>
            <a:ext cx="457200" cy="0"/>
          </a:xfrm>
          <a:prstGeom prst="line">
            <a:avLst/>
          </a:prstGeom>
          <a:noFill/>
          <a:ln w="22225">
            <a:solidFill>
              <a:srgbClr val="2E6F9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99178" y="2880360"/>
            <a:ext cx="3393338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1E5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82058" y="301752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82058" y="342900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A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 = I(c)[31:26]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A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6-bit opcode selects R/I/J handling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92517" y="3611880"/>
            <a:ext cx="457200" cy="0"/>
          </a:xfrm>
          <a:prstGeom prst="line">
            <a:avLst/>
          </a:prstGeom>
          <a:noFill/>
          <a:ln w="22225">
            <a:solidFill>
              <a:srgbClr val="2E6F9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249717" y="2880360"/>
            <a:ext cx="3393338" cy="1463040"/>
          </a:xfrm>
          <a:prstGeom prst="roundRect">
            <a:avLst>
              <a:gd name="adj" fmla="val 4375"/>
            </a:avLst>
          </a:prstGeom>
          <a:solidFill>
            <a:srgbClr val="1B4965"/>
          </a:solidFill>
          <a:ln w="12700">
            <a:solidFill>
              <a:srgbClr val="E1E5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32597" y="301752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32597" y="342900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operands parsed → Instruction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 lookup → execute(config)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946386" y="4389120"/>
            <a:ext cx="-7701077" cy="0"/>
          </a:xfrm>
          <a:prstGeom prst="line">
            <a:avLst/>
          </a:prstGeom>
          <a:noFill/>
          <a:ln w="19050">
            <a:solidFill>
              <a:srgbClr val="2E6F95"/>
            </a:solidFill>
            <a:prstDash val="dash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399178" y="4453128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syscall / halt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to Machine Code — Bachelor's Thesis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the Full Pipeline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4415" cy="0"/>
          </a:xfrm>
          <a:prstGeom prst="line">
            <a:avLst/>
          </a:prstGeom>
          <a:noFill/>
          <a:ln w="12700">
            <a:solidFill>
              <a:srgbClr val="E1E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70 self-verifying C0 test programs: integer/unsigned arithmetic, pointers, structs, loops, conditionals, recursion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program ends with return 1, halted via a syscall — a clear, checkable exit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automates each test: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457200" cy="566928"/>
          </a:xfrm>
          <a:prstGeom prst="oval">
            <a:avLst>
              <a:gd name="adj" fmla="val 12000"/>
            </a:avLst>
          </a:prstGeom>
          <a:solidFill>
            <a:srgbClr val="1B496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320040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C0 → MIPS bytecode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895344"/>
            <a:ext cx="457200" cy="566928"/>
          </a:xfrm>
          <a:prstGeom prst="oval">
            <a:avLst>
              <a:gd name="adj" fmla="val 12000"/>
            </a:avLst>
          </a:prstGeom>
          <a:solidFill>
            <a:srgbClr val="1B496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89534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895344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fresh Configuration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590288"/>
            <a:ext cx="457200" cy="566928"/>
          </a:xfrm>
          <a:prstGeom prst="oval">
            <a:avLst>
              <a:gd name="adj" fmla="val 12000"/>
            </a:avLst>
          </a:prstGeom>
          <a:solidFill>
            <a:srgbClr val="1B496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59028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4590288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bytecode into memory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285232"/>
            <a:ext cx="457200" cy="566928"/>
          </a:xfrm>
          <a:prstGeom prst="oval">
            <a:avLst>
              <a:gd name="adj" fmla="val 12000"/>
            </a:avLst>
          </a:prstGeom>
          <a:solidFill>
            <a:srgbClr val="1B496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528523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5285232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simulate()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980176"/>
            <a:ext cx="457200" cy="566928"/>
          </a:xfrm>
          <a:prstGeom prst="oval">
            <a:avLst>
              <a:gd name="adj" fmla="val 12000"/>
            </a:avLst>
          </a:prstGeom>
          <a:solidFill>
            <a:srgbClr val="1B496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598017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5980176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registers &amp; memory match expected values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to Machine Code — Bachelor's Thesis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SUPPORT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Bootloader + runvm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4415" cy="0"/>
          </a:xfrm>
          <a:prstGeom prst="line">
            <a:avLst/>
          </a:prstGeom>
          <a:noFill/>
          <a:ln w="12700">
            <a:solidFill>
              <a:srgbClr val="E1E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run multiple virtual users' programs on the target FPGA board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bootloader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the reset signal, fetches translated kernel code from disk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runvm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primitive that runs a virtual user and transparently handles invalid-page-fault interrupts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main loop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4937760" cy="1737360"/>
          </a:xfrm>
          <a:prstGeom prst="roundRect">
            <a:avLst>
              <a:gd name="adj" fmla="val 3158"/>
            </a:avLst>
          </a:prstGeom>
          <a:solidFill>
            <a:srgbClr val="F4F5F7"/>
          </a:solidFill>
          <a:ln w="12700">
            <a:solidFill>
              <a:srgbClr val="D7DC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3727094"/>
            <a:ext cx="4608576" cy="1506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[...] // initialize data structures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scheduler();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runvm()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87488" y="3337560"/>
            <a:ext cx="2011680" cy="502920"/>
          </a:xfrm>
          <a:prstGeom prst="oval">
            <a:avLst>
              <a:gd name="adj" fmla="val 10909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33208" y="3337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39447" y="3840480"/>
            <a:ext cx="0" cy="411480"/>
          </a:xfrm>
          <a:prstGeom prst="line">
            <a:avLst/>
          </a:prstGeom>
          <a:noFill/>
          <a:ln w="22225">
            <a:solidFill>
              <a:srgbClr val="2E6F9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047208" y="3840480"/>
            <a:ext cx="0" cy="411480"/>
          </a:xfrm>
          <a:prstGeom prst="line">
            <a:avLst/>
          </a:prstGeom>
          <a:noFill/>
          <a:ln w="22225">
            <a:solidFill>
              <a:srgbClr val="2E6F9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173687" y="38679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0"/>
                </a:solidFill>
              </a:rPr>
              <a:t>yes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81448" y="38679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0"/>
                </a:solidFill>
              </a:rPr>
              <a:t>no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4251960"/>
            <a:ext cx="2621749" cy="1051560"/>
          </a:xfrm>
          <a:prstGeom prst="roundRect">
            <a:avLst>
              <a:gd name="adj" fmla="val 5217"/>
            </a:avLst>
          </a:prstGeom>
          <a:solidFill>
            <a:srgbClr val="1B496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4251960"/>
            <a:ext cx="253030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translated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from disk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21306" y="4251960"/>
            <a:ext cx="2621749" cy="1051560"/>
          </a:xfrm>
          <a:prstGeom prst="roundRect">
            <a:avLst>
              <a:gd name="adj" fmla="val 5217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67026" y="4251960"/>
            <a:ext cx="253030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into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of runvm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to Machine Code — Bachelor's Thesis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SUPPORT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Memory Layout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4415" cy="0"/>
          </a:xfrm>
          <a:prstGeom prst="line">
            <a:avLst/>
          </a:prstGeom>
          <a:noFill/>
          <a:ln w="12700">
            <a:solidFill>
              <a:srgbClr val="E1E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2103120" cy="532965"/>
          </a:xfrm>
          <a:prstGeom prst="roundRect">
            <a:avLst>
              <a:gd name="adj" fmla="val 10294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2011680" cy="53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hd-ports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788920" y="1554480"/>
            <a:ext cx="1554480" cy="53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56K – 64K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0560" y="1554480"/>
            <a:ext cx="7162495" cy="53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pages mapped to disk ports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142309"/>
            <a:ext cx="2103120" cy="532965"/>
          </a:xfrm>
          <a:prstGeom prst="roundRect">
            <a:avLst>
              <a:gd name="adj" fmla="val 10294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42309"/>
            <a:ext cx="2011680" cy="53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upbase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88920" y="2142309"/>
            <a:ext cx="1554480" cy="53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44K – 52K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2142309"/>
            <a:ext cx="7162495" cy="53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users' virtual pages (page-fault region)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730137"/>
            <a:ext cx="2103120" cy="532965"/>
          </a:xfrm>
          <a:prstGeom prst="roundRect">
            <a:avLst>
              <a:gd name="adj" fmla="val 10294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30137"/>
            <a:ext cx="2011680" cy="53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88920" y="2730137"/>
            <a:ext cx="1554480" cy="53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36K – 40K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2730137"/>
            <a:ext cx="7162495" cy="53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for kernel heap variables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317966"/>
            <a:ext cx="2103120" cy="532965"/>
          </a:xfrm>
          <a:prstGeom prst="roundRect">
            <a:avLst>
              <a:gd name="adj" fmla="val 10294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317966"/>
            <a:ext cx="2011680" cy="53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788920" y="3317966"/>
            <a:ext cx="1554480" cy="53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24K – 32K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0" y="3317966"/>
            <a:ext cx="7162495" cy="53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data structures &amp; function frames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905794"/>
            <a:ext cx="2103120" cy="532965"/>
          </a:xfrm>
          <a:prstGeom prst="roundRect">
            <a:avLst>
              <a:gd name="adj" fmla="val 10294"/>
            </a:avLst>
          </a:prstGeom>
          <a:solidFill>
            <a:srgbClr val="1B496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905794"/>
            <a:ext cx="2011680" cy="53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788920" y="3905794"/>
            <a:ext cx="1554480" cy="53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12K – 20K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3905794"/>
            <a:ext cx="7162495" cy="53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kernel code (~1,629 instructions)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493623"/>
            <a:ext cx="2103120" cy="532965"/>
          </a:xfrm>
          <a:prstGeom prst="roundRect">
            <a:avLst>
              <a:gd name="adj" fmla="val 10294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493623"/>
            <a:ext cx="2011680" cy="53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788920" y="4493623"/>
            <a:ext cx="1554480" cy="53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4K – 8K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80560" y="4493623"/>
            <a:ext cx="7162495" cy="53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saving/restoring register contents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081451"/>
            <a:ext cx="2103120" cy="532965"/>
          </a:xfrm>
          <a:prstGeom prst="roundRect">
            <a:avLst>
              <a:gd name="adj" fmla="val 10294"/>
            </a:avLst>
          </a:prstGeom>
          <a:solidFill>
            <a:srgbClr val="EDF3F7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5081451"/>
            <a:ext cx="2011680" cy="53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788920" y="5081451"/>
            <a:ext cx="1554480" cy="53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– 4K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80560" y="5081451"/>
            <a:ext cx="7162495" cy="53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bootloader; only region present at start-up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to Machine Code — Bachelor's Thesis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SUPPORT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Tables, Process Control Blocks &amp; Scheduling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4415" cy="0"/>
          </a:xfrm>
          <a:prstGeom prst="line">
            <a:avLst/>
          </a:prstGeom>
          <a:noFill/>
          <a:ln w="12700">
            <a:solidFill>
              <a:srgbClr val="E1E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PTA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array holding every user's page table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PTOI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starting offset into PTA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PCB[i]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gpr / spr for user i — restored by runvm on every switch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Scheduling: simple round-robin over the p user processes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scheduler()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4663440"/>
            <a:ext cx="5760720" cy="1143000"/>
          </a:xfrm>
          <a:prstGeom prst="roundRect">
            <a:avLst>
              <a:gd name="adj" fmla="val 4800"/>
            </a:avLst>
          </a:prstGeom>
          <a:solidFill>
            <a:srgbClr val="F4F5F7"/>
          </a:solidFill>
          <a:ln w="12700">
            <a:solidFill>
              <a:srgbClr val="D7DC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4778654"/>
            <a:ext cx="5431536" cy="912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scheduler(){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(CP==p) {CP = 1u}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{CP = CP+1u}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75120" y="1463040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Address-translation setup (excerpt)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75120" y="1728216"/>
            <a:ext cx="4967935" cy="4023360"/>
          </a:xfrm>
          <a:prstGeom prst="roundRect">
            <a:avLst>
              <a:gd name="adj" fmla="val 1364"/>
            </a:avLst>
          </a:prstGeom>
          <a:solidFill>
            <a:srgbClr val="F4F5F7"/>
          </a:solidFill>
          <a:ln w="12700">
            <a:solidFill>
              <a:srgbClr val="D7DC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9712" y="1843430"/>
            <a:ext cx="4638751" cy="3792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uint[PTASIZE] PTAt;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uint[p+1] PTOIt;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PTAt PTA; PTOIt PTOI;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1u;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i&lt;p+1u {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PTOI[i] = (i-1u)*PTL;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 = i + 1u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to Machine Code — Bachelor's Thesis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SUPPORT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2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Switching Modes &amp; Loading the Kernel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11094415" cy="0"/>
          </a:xfrm>
          <a:prstGeom prst="line">
            <a:avLst/>
          </a:prstGeom>
          <a:noFill/>
          <a:ln w="12700">
            <a:solidFill>
              <a:srgbClr val="E1E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56692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runvm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restore-user → run → save-user on interrupt → detect ipf via the exception-cause register → ipfHandler() → restore-user again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bootloader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reset, FetchKernel.c0 reads kernel pages from disk into a fixed memory region; otherwise it jumps straight into the middle of runvm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2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 uses pc-relative jumps, so jump targets are computed as offset = target − current pc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83680" y="1463040"/>
            <a:ext cx="5059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kernel code from disk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83680" y="1728216"/>
            <a:ext cx="5059375" cy="4023360"/>
          </a:xfrm>
          <a:prstGeom prst="roundRect">
            <a:avLst>
              <a:gd name="adj" fmla="val 1364"/>
            </a:avLst>
          </a:prstGeom>
          <a:solidFill>
            <a:srgbClr val="F4F5F7"/>
          </a:solidFill>
          <a:ln w="12700">
            <a:solidFill>
              <a:srgbClr val="D7DC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48272" y="1843430"/>
            <a:ext cx="4730191" cy="3792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SPX = 0u;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PPX = a/4096u;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(b-a+4u)/4096u;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L&gt;0u {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readdisk(PPX, SPX);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SPX = SPX + 1u;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PPX = PPX + 1u;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 = L-1u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73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to Machine Code — Bachelor's Thesis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09441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Limitations, Future Work &amp; References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tested on real FPGA hardware — disk, interrupts and MMU designs were not finalized in time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intentionally minimal: round-robin scheduling, only invalid-page-fault interrupts handled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kernel data structures — more users require editing kernel source directly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and verify the kernel on the physical FPGA board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C0 compiler to cover more language features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 wider set of standard MIPS pseudo-instructions in the assembler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0" cy="4663440"/>
          </a:xfrm>
          <a:prstGeom prst="line">
            <a:avLst/>
          </a:prstGeom>
          <a:noFill/>
          <a:ln w="12700">
            <a:solidFill>
              <a:srgbClr val="3344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1920240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AA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 J. Paul, C. Baumann Petro, L. Sabine Schmaltz, System Architecture: An Ordinary Engineering Discipline, 2016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AA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Pirtskhelani, I. Khotchava, Compiler Development for LR(1) Grammars: DK1 Test, Parsing, and Code Generation with Application to the C0 Language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AA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Sipser, Introduction to the Theory of Computation, 3rd ed.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AA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Vollmar, P. Sanderson, MARS: MIPS Assembler and Runtime Simulator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6F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 to Machine Code: Assembler, Simulator and Basic OS Support</dc:title>
  <dc:subject>PptxGenJS Presentation</dc:subject>
  <dc:creator>Mirian Shilakadze, Mikheili Kvinikadze, Konstantine Machavariani</dc:creator>
  <cp:lastModifiedBy>Mirian Shilakadze, Mikheili Kvinikadze, Konstantine Machavariani</cp:lastModifiedBy>
  <cp:revision>1</cp:revision>
  <dcterms:created xsi:type="dcterms:W3CDTF">2026-07-06T16:26:45Z</dcterms:created>
  <dcterms:modified xsi:type="dcterms:W3CDTF">2026-07-06T16:26:45Z</dcterms:modified>
</cp:coreProperties>
</file>